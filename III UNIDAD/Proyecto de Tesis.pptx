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256" r:id="rId3"/>
    <p:sldId id="259" r:id="rId4"/>
    <p:sldId id="292" r:id="rId5"/>
    <p:sldId id="291" r:id="rId6"/>
    <p:sldId id="293" r:id="rId7"/>
    <p:sldId id="294" r:id="rId8"/>
    <p:sldId id="295" r:id="rId9"/>
    <p:sldId id="296" r:id="rId10"/>
    <p:sldId id="298" r:id="rId11"/>
    <p:sldId id="264" r:id="rId1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81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753CB2-00EB-4C89-AA3D-3CAD3D6EDEAE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PE"/>
        </a:p>
      </dgm:t>
    </dgm:pt>
    <dgm:pt modelId="{9EE1E501-2724-4F86-BF03-7E8B0FA2DB41}">
      <dgm:prSet phldrT="[Texto]"/>
      <dgm:spPr/>
      <dgm:t>
        <a:bodyPr/>
        <a:lstStyle/>
        <a:p>
          <a:r>
            <a:rPr lang="es-PE" dirty="0">
              <a:latin typeface="Times New Roman" panose="02020603050405020304" pitchFamily="18" charset="0"/>
              <a:cs typeface="Times New Roman" panose="02020603050405020304" pitchFamily="18" charset="0"/>
            </a:rPr>
            <a:t>INTERNACIONALES</a:t>
          </a:r>
        </a:p>
      </dgm:t>
    </dgm:pt>
    <dgm:pt modelId="{49B1A6C4-335C-426E-A360-1B1647C5E189}" type="parTrans" cxnId="{EC12E97F-AB85-4AB4-9486-CAE16F018534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B27E85-7DD2-45C1-B765-FF7211952453}" type="sibTrans" cxnId="{EC12E97F-AB85-4AB4-9486-CAE16F018534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F4A0E7-44FB-46FA-BCB2-C0DEC813D06C}">
      <dgm:prSet phldrT="[Texto]" custT="1"/>
      <dgm:spPr/>
      <dgm:t>
        <a:bodyPr/>
        <a:lstStyle/>
        <a:p>
          <a:pPr algn="just"/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Se han 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reportándo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familias como 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Braconidae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(Blanco &amp; Riverón, 2014), 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Ichneumonidae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en México (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Cancino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et al., 2014); 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Bethylidae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y 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Tachinidae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en Paraguay (Cabral et al., 2016), 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Dryinidae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en Argentina (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Virla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&amp; Olmi, 2007); 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Chalcididae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Sarcophagidae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y </a:t>
          </a:r>
          <a:r>
            <a:rPr lang="es-PE" sz="17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Platygastridae</a:t>
          </a:r>
          <a:r>
            <a:rPr lang="es-PE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en Ecuador (Chirinos et al., 2024). </a:t>
          </a:r>
          <a:endParaRPr lang="es-PE" sz="1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099411-2A77-4D70-A055-E95532932703}" type="parTrans" cxnId="{66B78C95-CB51-42B5-AE85-E1977871F4F1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58C2C0-6D6E-49DF-B0E2-10E9E65FEADE}" type="sibTrans" cxnId="{66B78C95-CB51-42B5-AE85-E1977871F4F1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705E2B-40FC-48D8-9310-C107345629EC}">
      <dgm:prSet phldrT="[Texto]"/>
      <dgm:spPr/>
      <dgm:t>
        <a:bodyPr/>
        <a:lstStyle/>
        <a:p>
          <a:r>
            <a:rPr lang="es-PE" dirty="0">
              <a:latin typeface="Times New Roman" panose="02020603050405020304" pitchFamily="18" charset="0"/>
              <a:cs typeface="Times New Roman" panose="02020603050405020304" pitchFamily="18" charset="0"/>
            </a:rPr>
            <a:t>NACIONALES</a:t>
          </a:r>
        </a:p>
      </dgm:t>
    </dgm:pt>
    <dgm:pt modelId="{4DDC784F-E8C3-4719-81C3-FE0DA3851495}" type="parTrans" cxnId="{A2A24208-BBF5-401D-B3F4-6BC6532D5F24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6602CB-BE3B-4574-BD23-5D5DA1C8CC75}" type="sibTrans" cxnId="{A2A24208-BBF5-401D-B3F4-6BC6532D5F24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7AA179-99C5-4C52-95CE-95C91C03B917}">
      <dgm:prSet phldrT="[Texto]" custT="1"/>
      <dgm:spPr/>
      <dgm:t>
        <a:bodyPr/>
        <a:lstStyle/>
        <a:p>
          <a:pPr algn="just"/>
          <a:r>
            <a:rPr lang="es-PE" sz="1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(Ochoa et al., 2003), en su publicación “Parasitoides y Parásitos de </a:t>
          </a:r>
          <a:r>
            <a:rPr lang="es-PE" sz="1500" i="1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Spodoptera</a:t>
          </a:r>
          <a:r>
            <a:rPr lang="es-PE" sz="15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Frugiperda</a:t>
          </a:r>
          <a:r>
            <a:rPr lang="es-PE" sz="1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s-PE" sz="15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Lepidoptera</a:t>
          </a:r>
          <a:r>
            <a:rPr lang="es-PE" sz="1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: </a:t>
          </a:r>
          <a:r>
            <a:rPr lang="es-PE" sz="15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Noctuidae</a:t>
          </a:r>
          <a:r>
            <a:rPr lang="es-PE" sz="1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) en las Américas y la Cuenca del Caribe: Un Inventario”, 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) identificaron diversas especies de parasitoides asociadas a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Spodoptera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frugiperda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tales como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Ophion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Trachysphyrus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cleonis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Netelia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Campoletis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curvicauda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Meteorus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Cotesia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Apanteles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Chelonus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Gonia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pacifica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Eucelatoria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australis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y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Archytas</a:t>
          </a:r>
          <a:r>
            <a:rPr lang="es-PE" sz="1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marmoratus</a:t>
          </a:r>
          <a:r>
            <a:rPr lang="es-PE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endParaRPr lang="es-PE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72456F-A14A-4D15-8D99-F1E2AB359270}" type="parTrans" cxnId="{A5E1D32F-9969-48C1-A575-AE9B3B697563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C8BFD3-4F2C-45B3-91D8-C2AFAC0F2534}" type="sibTrans" cxnId="{A5E1D32F-9969-48C1-A575-AE9B3B697563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38B7F3-F2C3-4CF6-9DB8-FD38D2EA3C7F}">
      <dgm:prSet phldrT="[Texto]"/>
      <dgm:spPr/>
      <dgm:t>
        <a:bodyPr/>
        <a:lstStyle/>
        <a:p>
          <a:r>
            <a:rPr lang="es-PE" dirty="0">
              <a:latin typeface="Times New Roman" panose="02020603050405020304" pitchFamily="18" charset="0"/>
              <a:cs typeface="Times New Roman" panose="02020603050405020304" pitchFamily="18" charset="0"/>
            </a:rPr>
            <a:t>AMAZONAS</a:t>
          </a:r>
        </a:p>
      </dgm:t>
    </dgm:pt>
    <dgm:pt modelId="{D181F8B5-F0DB-432C-AE92-C2C8049E2680}" type="parTrans" cxnId="{42803494-D23B-45EC-92D1-2B0B89B890EA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4BA532-F791-4F41-BADD-D3DA79EF8938}" type="sibTrans" cxnId="{42803494-D23B-45EC-92D1-2B0B89B890EA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40B234-A5BD-40C3-9A20-CF0147AA152C}">
      <dgm:prSet phldrT="[Texto]" custT="1"/>
      <dgm:spPr/>
      <dgm:t>
        <a:bodyPr/>
        <a:lstStyle/>
        <a:p>
          <a:pPr algn="just"/>
          <a:r>
            <a:rPr lang="es-PE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En la región Amazonas se cultiva maíz en diferentes zonas agroecológicas, pero existen pocos estudios sobre la fauna de parasitoides que podrían contribuir al control natural de plagas que afectan este cultivo. </a:t>
          </a:r>
          <a:endParaRPr lang="es-PE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121A86-DF4B-45A9-902F-CD7566314F6F}" type="parTrans" cxnId="{0EE75211-C0EB-4FE0-A404-EC9BB3E2F720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34EFFA-C20F-4807-ADA8-2A5ED0132E52}" type="sibTrans" cxnId="{0EE75211-C0EB-4FE0-A404-EC9BB3E2F720}">
      <dgm:prSet/>
      <dgm:spPr/>
      <dgm:t>
        <a:bodyPr/>
        <a:lstStyle/>
        <a:p>
          <a:endParaRPr lang="es-PE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FB3420-3445-4A9C-A280-D13EDF283644}" type="pres">
      <dgm:prSet presAssocID="{31753CB2-00EB-4C89-AA3D-3CAD3D6EDEAE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5E3C9CCA-F392-466E-949A-B9B946F4BAB3}" type="pres">
      <dgm:prSet presAssocID="{9EE1E501-2724-4F86-BF03-7E8B0FA2DB41}" presName="parentText1" presStyleLbl="node1" presStyleIdx="0" presStyleCnt="3">
        <dgm:presLayoutVars>
          <dgm:chMax/>
          <dgm:chPref val="3"/>
          <dgm:bulletEnabled val="1"/>
        </dgm:presLayoutVars>
      </dgm:prSet>
      <dgm:spPr/>
    </dgm:pt>
    <dgm:pt modelId="{0CAA800A-F549-473A-AEF0-0D5C4D211D64}" type="pres">
      <dgm:prSet presAssocID="{9EE1E501-2724-4F86-BF03-7E8B0FA2DB41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</dgm:pt>
    <dgm:pt modelId="{45F6F787-1DA0-4EEB-8315-A78EF5EA6EB4}" type="pres">
      <dgm:prSet presAssocID="{CC705E2B-40FC-48D8-9310-C107345629EC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849B04B6-8212-4326-8026-E3197CEF55C6}" type="pres">
      <dgm:prSet presAssocID="{CC705E2B-40FC-48D8-9310-C107345629EC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96C8A2BD-93AD-43A7-A7F9-A086D24E34CE}" type="pres">
      <dgm:prSet presAssocID="{4A38B7F3-F2C3-4CF6-9DB8-FD38D2EA3C7F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08354C7E-47A1-40D4-9691-8EEEA7DA4F7B}" type="pres">
      <dgm:prSet presAssocID="{4A38B7F3-F2C3-4CF6-9DB8-FD38D2EA3C7F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2A24208-BBF5-401D-B3F4-6BC6532D5F24}" srcId="{31753CB2-00EB-4C89-AA3D-3CAD3D6EDEAE}" destId="{CC705E2B-40FC-48D8-9310-C107345629EC}" srcOrd="1" destOrd="0" parTransId="{4DDC784F-E8C3-4719-81C3-FE0DA3851495}" sibTransId="{686602CB-BE3B-4574-BD23-5D5DA1C8CC75}"/>
    <dgm:cxn modelId="{0EE75211-C0EB-4FE0-A404-EC9BB3E2F720}" srcId="{4A38B7F3-F2C3-4CF6-9DB8-FD38D2EA3C7F}" destId="{F040B234-A5BD-40C3-9A20-CF0147AA152C}" srcOrd="0" destOrd="0" parTransId="{DD121A86-DF4B-45A9-902F-CD7566314F6F}" sibTransId="{DD34EFFA-C20F-4807-ADA8-2A5ED0132E52}"/>
    <dgm:cxn modelId="{F90F6B14-AF6D-4A99-B898-6CEE913FB6ED}" type="presOf" srcId="{1E7AA179-99C5-4C52-95CE-95C91C03B917}" destId="{849B04B6-8212-4326-8026-E3197CEF55C6}" srcOrd="0" destOrd="0" presId="urn:microsoft.com/office/officeart/2009/3/layout/IncreasingArrowsProcess"/>
    <dgm:cxn modelId="{0D666E20-3B21-42DA-8F67-3724B876E8CF}" type="presOf" srcId="{CC705E2B-40FC-48D8-9310-C107345629EC}" destId="{45F6F787-1DA0-4EEB-8315-A78EF5EA6EB4}" srcOrd="0" destOrd="0" presId="urn:microsoft.com/office/officeart/2009/3/layout/IncreasingArrowsProcess"/>
    <dgm:cxn modelId="{A5E1D32F-9969-48C1-A575-AE9B3B697563}" srcId="{CC705E2B-40FC-48D8-9310-C107345629EC}" destId="{1E7AA179-99C5-4C52-95CE-95C91C03B917}" srcOrd="0" destOrd="0" parTransId="{EA72456F-A14A-4D15-8D99-F1E2AB359270}" sibTransId="{9DC8BFD3-4F2C-45B3-91D8-C2AFAC0F2534}"/>
    <dgm:cxn modelId="{EC12E97F-AB85-4AB4-9486-CAE16F018534}" srcId="{31753CB2-00EB-4C89-AA3D-3CAD3D6EDEAE}" destId="{9EE1E501-2724-4F86-BF03-7E8B0FA2DB41}" srcOrd="0" destOrd="0" parTransId="{49B1A6C4-335C-426E-A360-1B1647C5E189}" sibTransId="{20B27E85-7DD2-45C1-B765-FF7211952453}"/>
    <dgm:cxn modelId="{4BADF58D-6EC5-4D57-8FDE-09AA27E61D58}" type="presOf" srcId="{4A38B7F3-F2C3-4CF6-9DB8-FD38D2EA3C7F}" destId="{96C8A2BD-93AD-43A7-A7F9-A086D24E34CE}" srcOrd="0" destOrd="0" presId="urn:microsoft.com/office/officeart/2009/3/layout/IncreasingArrowsProcess"/>
    <dgm:cxn modelId="{42803494-D23B-45EC-92D1-2B0B89B890EA}" srcId="{31753CB2-00EB-4C89-AA3D-3CAD3D6EDEAE}" destId="{4A38B7F3-F2C3-4CF6-9DB8-FD38D2EA3C7F}" srcOrd="2" destOrd="0" parTransId="{D181F8B5-F0DB-432C-AE92-C2C8049E2680}" sibTransId="{1B4BA532-F791-4F41-BADD-D3DA79EF8938}"/>
    <dgm:cxn modelId="{66B78C95-CB51-42B5-AE85-E1977871F4F1}" srcId="{9EE1E501-2724-4F86-BF03-7E8B0FA2DB41}" destId="{90F4A0E7-44FB-46FA-BCB2-C0DEC813D06C}" srcOrd="0" destOrd="0" parTransId="{D2099411-2A77-4D70-A055-E95532932703}" sibTransId="{4058C2C0-6D6E-49DF-B0E2-10E9E65FEADE}"/>
    <dgm:cxn modelId="{F8A22B98-F80B-46BE-AFC3-547A799A3DCB}" type="presOf" srcId="{F040B234-A5BD-40C3-9A20-CF0147AA152C}" destId="{08354C7E-47A1-40D4-9691-8EEEA7DA4F7B}" srcOrd="0" destOrd="0" presId="urn:microsoft.com/office/officeart/2009/3/layout/IncreasingArrowsProcess"/>
    <dgm:cxn modelId="{186483A8-B97A-49C6-AE91-74178201F89A}" type="presOf" srcId="{9EE1E501-2724-4F86-BF03-7E8B0FA2DB41}" destId="{5E3C9CCA-F392-466E-949A-B9B946F4BAB3}" srcOrd="0" destOrd="0" presId="urn:microsoft.com/office/officeart/2009/3/layout/IncreasingArrowsProcess"/>
    <dgm:cxn modelId="{D858EBCC-86E9-4DE0-B269-6467D297AF83}" type="presOf" srcId="{31753CB2-00EB-4C89-AA3D-3CAD3D6EDEAE}" destId="{A8FB3420-3445-4A9C-A280-D13EDF283644}" srcOrd="0" destOrd="0" presId="urn:microsoft.com/office/officeart/2009/3/layout/IncreasingArrowsProcess"/>
    <dgm:cxn modelId="{F8FBFFF3-6E14-4414-B2A2-46E847BF7A7B}" type="presOf" srcId="{90F4A0E7-44FB-46FA-BCB2-C0DEC813D06C}" destId="{0CAA800A-F549-473A-AEF0-0D5C4D211D64}" srcOrd="0" destOrd="0" presId="urn:microsoft.com/office/officeart/2009/3/layout/IncreasingArrowsProcess"/>
    <dgm:cxn modelId="{B33F9296-1852-4E58-96D1-639CC3410E77}" type="presParOf" srcId="{A8FB3420-3445-4A9C-A280-D13EDF283644}" destId="{5E3C9CCA-F392-466E-949A-B9B946F4BAB3}" srcOrd="0" destOrd="0" presId="urn:microsoft.com/office/officeart/2009/3/layout/IncreasingArrowsProcess"/>
    <dgm:cxn modelId="{501F30DE-559C-46BB-97F6-83074072C898}" type="presParOf" srcId="{A8FB3420-3445-4A9C-A280-D13EDF283644}" destId="{0CAA800A-F549-473A-AEF0-0D5C4D211D64}" srcOrd="1" destOrd="0" presId="urn:microsoft.com/office/officeart/2009/3/layout/IncreasingArrowsProcess"/>
    <dgm:cxn modelId="{C4096C36-46CD-4BE2-B80C-D46C5CC5A3AC}" type="presParOf" srcId="{A8FB3420-3445-4A9C-A280-D13EDF283644}" destId="{45F6F787-1DA0-4EEB-8315-A78EF5EA6EB4}" srcOrd="2" destOrd="0" presId="urn:microsoft.com/office/officeart/2009/3/layout/IncreasingArrowsProcess"/>
    <dgm:cxn modelId="{7B854B55-85D6-4DD1-A0C5-94451288525F}" type="presParOf" srcId="{A8FB3420-3445-4A9C-A280-D13EDF283644}" destId="{849B04B6-8212-4326-8026-E3197CEF55C6}" srcOrd="3" destOrd="0" presId="urn:microsoft.com/office/officeart/2009/3/layout/IncreasingArrowsProcess"/>
    <dgm:cxn modelId="{554D3C17-6206-4768-BEFE-1C2946E1356D}" type="presParOf" srcId="{A8FB3420-3445-4A9C-A280-D13EDF283644}" destId="{96C8A2BD-93AD-43A7-A7F9-A086D24E34CE}" srcOrd="4" destOrd="0" presId="urn:microsoft.com/office/officeart/2009/3/layout/IncreasingArrowsProcess"/>
    <dgm:cxn modelId="{02104A6C-2ABC-4DE9-B8CC-B50EDB7DD47B}" type="presParOf" srcId="{A8FB3420-3445-4A9C-A280-D13EDF283644}" destId="{08354C7E-47A1-40D4-9691-8EEEA7DA4F7B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C9CCA-F392-466E-949A-B9B946F4BAB3}">
      <dsp:nvSpPr>
        <dsp:cNvPr id="0" name=""/>
        <dsp:cNvSpPr/>
      </dsp:nvSpPr>
      <dsp:spPr>
        <a:xfrm>
          <a:off x="0" y="696149"/>
          <a:ext cx="10540955" cy="1535164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254000" bIns="243707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INTERNACIONALES</a:t>
          </a:r>
        </a:p>
      </dsp:txBody>
      <dsp:txXfrm>
        <a:off x="0" y="1079940"/>
        <a:ext cx="10157164" cy="767582"/>
      </dsp:txXfrm>
    </dsp:sp>
    <dsp:sp modelId="{0CAA800A-F549-473A-AEF0-0D5C4D211D64}">
      <dsp:nvSpPr>
        <dsp:cNvPr id="0" name=""/>
        <dsp:cNvSpPr/>
      </dsp:nvSpPr>
      <dsp:spPr>
        <a:xfrm>
          <a:off x="0" y="1879983"/>
          <a:ext cx="3246614" cy="295729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Se han 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reportándo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familias como 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Braconidae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(Blanco &amp; Riverón, 2014), 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Ichneumonidae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en México (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Cancino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et al., 2014); 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Bethylidae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y 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Tachinidae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en Paraguay (Cabral et al., 2016), 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Dryinidae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en Argentina (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Virla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&amp; Olmi, 2007); 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Chalcididae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Sarcophagidae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y </a:t>
          </a:r>
          <a:r>
            <a:rPr lang="es-PE" sz="17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Platygastridae</a:t>
          </a:r>
          <a:r>
            <a:rPr lang="es-PE" sz="17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en Ecuador (Chirinos et al., 2024). </a:t>
          </a:r>
          <a:endParaRPr lang="es-PE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879983"/>
        <a:ext cx="3246614" cy="2957292"/>
      </dsp:txXfrm>
    </dsp:sp>
    <dsp:sp modelId="{45F6F787-1DA0-4EEB-8315-A78EF5EA6EB4}">
      <dsp:nvSpPr>
        <dsp:cNvPr id="0" name=""/>
        <dsp:cNvSpPr/>
      </dsp:nvSpPr>
      <dsp:spPr>
        <a:xfrm>
          <a:off x="3246614" y="1207871"/>
          <a:ext cx="7294340" cy="1535164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254000" bIns="243707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NACIONALES</a:t>
          </a:r>
        </a:p>
      </dsp:txBody>
      <dsp:txXfrm>
        <a:off x="3246614" y="1591662"/>
        <a:ext cx="6910549" cy="767582"/>
      </dsp:txXfrm>
    </dsp:sp>
    <dsp:sp modelId="{849B04B6-8212-4326-8026-E3197CEF55C6}">
      <dsp:nvSpPr>
        <dsp:cNvPr id="0" name=""/>
        <dsp:cNvSpPr/>
      </dsp:nvSpPr>
      <dsp:spPr>
        <a:xfrm>
          <a:off x="3246614" y="2391705"/>
          <a:ext cx="3246614" cy="295729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5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(Ochoa et al., 2003), en su publicación “Parasitoides y Parásitos de </a:t>
          </a:r>
          <a:r>
            <a:rPr lang="es-PE" sz="1500" i="1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Spodoptera</a:t>
          </a:r>
          <a:r>
            <a:rPr lang="es-PE" sz="1500" i="1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Frugiperda</a:t>
          </a:r>
          <a:r>
            <a:rPr lang="es-PE" sz="15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s-PE" sz="15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Lepidoptera</a:t>
          </a:r>
          <a:r>
            <a:rPr lang="es-PE" sz="15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: </a:t>
          </a:r>
          <a:r>
            <a:rPr lang="es-PE" sz="1500" kern="120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Noctuidae</a:t>
          </a:r>
          <a:r>
            <a:rPr lang="es-PE" sz="15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) en las Américas y la Cuenca del Caribe: Un Inventario”, 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) identificaron diversas especies de parasitoides asociadas a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Spodoptera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frugiperda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tales como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Ophion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Trachysphyrus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cleonis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Netelia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Campoletis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curvicauda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Meteorus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Cotesia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Apanteles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Chelonus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sp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Gonia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pacifica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Eucelatoria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australis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y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Archytas</a:t>
          </a:r>
          <a:r>
            <a:rPr lang="es-PE" sz="1500" i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s-PE" sz="1500" i="1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marmoratus</a:t>
          </a:r>
          <a:r>
            <a:rPr lang="es-PE" sz="15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endParaRPr lang="es-PE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46614" y="2391705"/>
        <a:ext cx="3246614" cy="2957292"/>
      </dsp:txXfrm>
    </dsp:sp>
    <dsp:sp modelId="{96C8A2BD-93AD-43A7-A7F9-A086D24E34CE}">
      <dsp:nvSpPr>
        <dsp:cNvPr id="0" name=""/>
        <dsp:cNvSpPr/>
      </dsp:nvSpPr>
      <dsp:spPr>
        <a:xfrm>
          <a:off x="6493228" y="1719593"/>
          <a:ext cx="4047726" cy="1535164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254000" bIns="243707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AMAZONAS</a:t>
          </a:r>
        </a:p>
      </dsp:txBody>
      <dsp:txXfrm>
        <a:off x="6493228" y="2103384"/>
        <a:ext cx="3663935" cy="767582"/>
      </dsp:txXfrm>
    </dsp:sp>
    <dsp:sp modelId="{08354C7E-47A1-40D4-9691-8EEEA7DA4F7B}">
      <dsp:nvSpPr>
        <dsp:cNvPr id="0" name=""/>
        <dsp:cNvSpPr/>
      </dsp:nvSpPr>
      <dsp:spPr>
        <a:xfrm>
          <a:off x="6493228" y="2903426"/>
          <a:ext cx="3246614" cy="29140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kern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En la región Amazonas se cultiva maíz en diferentes zonas agroecológicas, pero existen pocos estudios sobre la fauna de parasitoides que podrían contribuir al control natural de plagas que afectan este cultivo. </a:t>
          </a:r>
          <a:endParaRPr lang="es-PE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93228" y="2903426"/>
        <a:ext cx="3246614" cy="2914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E8F1A-9D65-4AC5-8DD7-7A72B3012F0A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8B186-6EA7-4F55-819B-CEB016C79D2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787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8B186-6EA7-4F55-819B-CEB016C79D2A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085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79611-8BDE-1DAE-721A-B9F4D3457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438885-0136-6DBD-2E98-DFBD721FF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95F53-EC07-94F8-8857-983F64284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1151DD-9361-6722-4D6F-2D627E8C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7214FD-F3D4-2225-BCDD-95CE55B8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26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A1DD-11E4-9AA4-31E6-ED0F9E38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67277A-03B5-4CEA-F29E-07956F229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6668F1-A3DD-25B2-7B69-49DDA7BF4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125FBA-FE51-011D-A549-1443F8A56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34B867-B53A-F88D-8586-FA07AFC9C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9045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C360D-AE4F-EE4F-73F2-02C4AB7C0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41E351-5049-0B42-4832-E126C4904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9A3D13-58B6-B526-E095-807A08D1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95EEBD-D7C5-FF7C-751B-F44F78F2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1CCE0E-11ED-AACC-47FF-19BF44D1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5595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58693-CF47-9586-53F8-4EA70595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C8DD83-43C6-B112-A3EE-3E00B8F6B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14B3EE4-B071-3268-B0D7-C85A6E050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9134AE-026D-D561-910C-544A2B887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8CE4B5-E803-3EDF-B092-A6FA1D9B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05A19D-992F-6E7A-D8E4-85CCF08E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62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C6FF4-7679-CE41-1A48-47A79D8C4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30AE15-160C-AB7C-F783-E3620DDDB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3FB3F5-E771-B61A-1CB4-D7630290A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82587B-5876-25CA-86A8-FE711B96C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895B2B-09A2-E222-F404-FC12FF09C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2637FC-7760-F516-1C02-B12247AB2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3F230D-8376-E9EF-8A94-818FCABB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8E5F3A-FE80-463D-CDC4-A38DC000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47706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D1A81-3C9D-A390-62F5-C4B332DB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03423C-ACC7-26F5-EC9C-2DDD0DE9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0301352-85A1-901F-9DBB-5FEC3EC0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B39B105-9388-54D2-E043-B81AF7C0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42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7712B5-B2CC-C466-472A-3A6D7620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3A752D-B90A-BFB4-6D96-96293A2D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A007A0-6863-21D0-F72A-CEE18D2D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64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36692-02C4-B6F4-7B7F-9C66235F5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9EEC88-1D79-CF28-B34D-243624DF3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60E467-ED01-A563-A8A0-419F8FFAA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2A54E5-7054-B8DB-9AE8-AB9442144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436E10-57BC-91B0-B5C8-1F6EBA915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DC64EC-198F-D6C2-C5EA-79409291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5031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41100-82D1-6C80-1D64-4A0C1A1AF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0B5E469-A5E0-643A-70DB-137C9ECB9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0C9890-100A-E800-143A-9D7F8C178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3FAF1F-D4AD-CFA5-0771-2F1598CD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653037-F064-3032-020A-A9C36F78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244F9D-A27B-3ABE-2384-A06B2D66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160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1D39C-A7A1-5FBD-0CE0-0F61745D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D2200D-0639-070A-1E7A-268586A32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77C5EE-2F84-FFF9-37D3-855289CF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01A195-6760-873E-50A6-FA367F22F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DF374E-3D91-1F77-E50C-EA636302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946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15628C-2AE5-D473-35F2-1FC548755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9FE704-8C4A-F978-E329-6D4A05102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59CB4F-E53F-1D05-2C09-7FA664CA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001427-DF4D-923A-9280-DAF3AB081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EFE261-854A-18C7-4D06-4D203B05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9572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BD76C24-0655-5679-C8F6-2DB0EB9D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4E7BF6-8C57-7CCC-40E6-93CDA768E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C694E-4CAA-4C76-6867-DB1BCBB34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DA470-B299-4220-ABE9-85261959724E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69DEBB-012C-932B-23B8-B8181EA58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A35F78-AE31-4187-5ABD-110DF044F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999A3-4984-4E08-BF52-130622D880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066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7546174021@untrm.edu.pe1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10" Type="http://schemas.openxmlformats.org/officeDocument/2006/relationships/image" Target="../media/image19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F107D8C-00FC-75C9-522D-2D3C9CDBD0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2696"/>
            <a:ext cx="12204357" cy="2937476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45553E1-30F3-EF6D-2129-35B0D4B95C58}"/>
              </a:ext>
            </a:extLst>
          </p:cNvPr>
          <p:cNvSpPr txBox="1">
            <a:spLocks/>
          </p:cNvSpPr>
          <p:nvPr/>
        </p:nvSpPr>
        <p:spPr>
          <a:xfrm>
            <a:off x="726177" y="2656701"/>
            <a:ext cx="10942845" cy="7535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Complejo parasitoide y </a:t>
            </a:r>
            <a:r>
              <a:rPr lang="es-PE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Spodoptera</a:t>
            </a:r>
            <a:r>
              <a:rPr lang="es-PE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Frugiperda</a:t>
            </a:r>
            <a:r>
              <a:rPr lang="es-PE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asociados al cultivo de maíz (</a:t>
            </a:r>
            <a:r>
              <a:rPr lang="es-PE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Zea </a:t>
            </a:r>
            <a:r>
              <a:rPr lang="es-PE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mays</a:t>
            </a:r>
            <a:r>
              <a:rPr lang="es-PE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en la región Amazonas, Perú</a:t>
            </a:r>
          </a:p>
        </p:txBody>
      </p:sp>
      <p:pic>
        <p:nvPicPr>
          <p:cNvPr id="4" name="Picture 2" descr="Logotipo - UNTRM">
            <a:extLst>
              <a:ext uri="{FF2B5EF4-FFF2-40B4-BE49-F238E27FC236}">
                <a16:creationId xmlns:a16="http://schemas.microsoft.com/office/drawing/2014/main" id="{337FACEE-9E5A-3BF7-0505-A295A8628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67" y="171207"/>
            <a:ext cx="3250005" cy="95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5029641-7C49-EB72-AE63-D5398591C3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7BDCB3F-B194-3530-0823-61A4697BC3FA}"/>
              </a:ext>
            </a:extLst>
          </p:cNvPr>
          <p:cNvSpPr txBox="1"/>
          <p:nvPr/>
        </p:nvSpPr>
        <p:spPr>
          <a:xfrm>
            <a:off x="11209745" y="5794795"/>
            <a:ext cx="677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/>
              <a:t>2024</a:t>
            </a:r>
            <a:endParaRPr lang="es-PE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9658F8-BE87-44EB-9AA9-DA7B7AED7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7727" y="132307"/>
            <a:ext cx="1109355" cy="1227565"/>
          </a:xfrm>
          <a:prstGeom prst="rect">
            <a:avLst/>
          </a:prstGeom>
        </p:spPr>
      </p:pic>
      <p:sp>
        <p:nvSpPr>
          <p:cNvPr id="17" name="Marcador de fecha 16">
            <a:extLst>
              <a:ext uri="{FF2B5EF4-FFF2-40B4-BE49-F238E27FC236}">
                <a16:creationId xmlns:a16="http://schemas.microsoft.com/office/drawing/2014/main" id="{89A889D8-25A7-43E0-8409-7BB84285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2923082" cy="365125"/>
          </a:xfrm>
        </p:spPr>
        <p:txBody>
          <a:bodyPr/>
          <a:lstStyle/>
          <a:p>
            <a:fld id="{BF008430-D29B-4036-92CA-39ED10C0C6A0}" type="datetime1">
              <a:rPr lang="es-PE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fld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4269CB74-19AC-4E84-B903-FAAF51AB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5942" y="6320691"/>
            <a:ext cx="7848602" cy="365125"/>
          </a:xfrm>
        </p:spPr>
        <p:txBody>
          <a:bodyPr/>
          <a:lstStyle/>
          <a:p>
            <a:pPr algn="ctr"/>
            <a:r>
              <a:rPr lang="es-MX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pitchFamily="18" charset="0"/>
              </a:rPr>
              <a:t>Efecto de la luz en la germinación de trigo (</a:t>
            </a:r>
            <a:r>
              <a:rPr lang="es-MX" i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pitchFamily="18" charset="0"/>
              </a:rPr>
              <a:t>Triticum </a:t>
            </a:r>
            <a:r>
              <a:rPr lang="es-MX" i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pitchFamily="18" charset="0"/>
              </a:rPr>
              <a:t>aestivum</a:t>
            </a:r>
            <a:r>
              <a:rPr lang="es-MX" i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es-MX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pitchFamily="18" charset="0"/>
              </a:rPr>
              <a:t>L.): un enfoque experimental</a:t>
            </a:r>
            <a:endParaRPr lang="es-PE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DA43E4FC-562B-441E-93D9-B4184706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4A274104-2DDF-478D-88A5-3013093AAB1E}"/>
              </a:ext>
            </a:extLst>
          </p:cNvPr>
          <p:cNvSpPr txBox="1">
            <a:spLocks/>
          </p:cNvSpPr>
          <p:nvPr/>
        </p:nvSpPr>
        <p:spPr>
          <a:xfrm>
            <a:off x="5927818" y="5141295"/>
            <a:ext cx="3814912" cy="13234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Parejas Gonzales, Jhodany</a:t>
            </a:r>
            <a:r>
              <a:rPr lang="es-PE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" name="CuadroTexto 18">
            <a:extLst>
              <a:ext uri="{FF2B5EF4-FFF2-40B4-BE49-F238E27FC236}">
                <a16:creationId xmlns:a16="http://schemas.microsoft.com/office/drawing/2014/main" id="{A6D32821-D76A-47CB-A043-74A51A9739B6}"/>
              </a:ext>
            </a:extLst>
          </p:cNvPr>
          <p:cNvSpPr txBox="1"/>
          <p:nvPr/>
        </p:nvSpPr>
        <p:spPr>
          <a:xfrm>
            <a:off x="241924" y="4795521"/>
            <a:ext cx="7593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s-MX" sz="1600" kern="1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 de Tesis I, Facultad de Ingeniería y ciencias agrarias, Universidad Nacional Toribio Rodríguez de Mendoza (UNTRM), Perú. </a:t>
            </a:r>
          </a:p>
          <a:p>
            <a:pPr algn="just"/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*Autor de correspondencia: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7546174021@untrm.edu.pe</a:t>
            </a:r>
            <a:r>
              <a:rPr lang="es-PE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1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BBC1BFD-99DC-4DB8-8F7A-3CC1876F33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891" y="384303"/>
            <a:ext cx="2903383" cy="106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8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13"/>
    </mc:Choice>
    <mc:Fallback xmlns="">
      <p:transition spd="slow" advTm="1481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452C5C5-BF37-6794-C6AD-AE26116220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9681E74A-449D-896F-28DB-D1A7BBD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486" y="6320457"/>
            <a:ext cx="2743200" cy="365125"/>
          </a:xfrm>
        </p:spPr>
        <p:txBody>
          <a:bodyPr/>
          <a:lstStyle/>
          <a:p>
            <a:fld id="{6D6938E2-E32A-4AE3-A240-0183F91F0C71}" type="datetime1">
              <a:rPr lang="es-PE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fld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DFDD720-80B6-F0E5-E699-944F1537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886" y="6320457"/>
            <a:ext cx="4114800" cy="365125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DE TESIS</a:t>
            </a:r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B645E71-3D6C-195E-A996-FD9928D1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7391" y="6292249"/>
            <a:ext cx="2743200" cy="365125"/>
          </a:xfrm>
        </p:spPr>
        <p:txBody>
          <a:bodyPr/>
          <a:lstStyle/>
          <a:p>
            <a:fld id="{87D75D39-ABF2-421A-A49D-D1890B74CF6F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E1431DE-AC32-8433-947F-30E9C753592F}"/>
              </a:ext>
            </a:extLst>
          </p:cNvPr>
          <p:cNvSpPr txBox="1"/>
          <p:nvPr/>
        </p:nvSpPr>
        <p:spPr>
          <a:xfrm>
            <a:off x="924486" y="527058"/>
            <a:ext cx="2459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I. Título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0A2C410-AFFC-EC52-AC62-B0A1DEEFC6C6}"/>
              </a:ext>
            </a:extLst>
          </p:cNvPr>
          <p:cNvCxnSpPr>
            <a:cxnSpLocks/>
          </p:cNvCxnSpPr>
          <p:nvPr/>
        </p:nvCxnSpPr>
        <p:spPr>
          <a:xfrm>
            <a:off x="739588" y="1050278"/>
            <a:ext cx="276811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8524881-0260-194C-29D3-457870E5CF57}"/>
              </a:ext>
            </a:extLst>
          </p:cNvPr>
          <p:cNvCxnSpPr>
            <a:cxnSpLocks/>
          </p:cNvCxnSpPr>
          <p:nvPr/>
        </p:nvCxnSpPr>
        <p:spPr>
          <a:xfrm>
            <a:off x="739588" y="4716287"/>
            <a:ext cx="544269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9E80C61-4635-9F88-9C16-6034D6F71DB4}"/>
              </a:ext>
            </a:extLst>
          </p:cNvPr>
          <p:cNvSpPr txBox="1"/>
          <p:nvPr/>
        </p:nvSpPr>
        <p:spPr>
          <a:xfrm>
            <a:off x="924486" y="4174612"/>
            <a:ext cx="53114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 </a:t>
            </a:r>
            <a:r>
              <a:rPr lang="es-ES" sz="28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Problema de Investigación </a:t>
            </a:r>
            <a:endParaRPr lang="es-ES" sz="2800" b="1" spc="-10" dirty="0">
              <a:solidFill>
                <a:srgbClr val="678D4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6968D65-4D65-FEF1-5AB6-76BF455E8B14}"/>
              </a:ext>
            </a:extLst>
          </p:cNvPr>
          <p:cNvSpPr txBox="1"/>
          <p:nvPr/>
        </p:nvSpPr>
        <p:spPr>
          <a:xfrm>
            <a:off x="739588" y="1125066"/>
            <a:ext cx="62782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Complejo parasitoide y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Spodoptera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Frugiperda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asociados al cultivo de maíz (Zea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en la región Amazonas, Perú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AA6AD2D-5232-D20C-80AA-45D95783AC48}"/>
              </a:ext>
            </a:extLst>
          </p:cNvPr>
          <p:cNvGrpSpPr/>
          <p:nvPr/>
        </p:nvGrpSpPr>
        <p:grpSpPr>
          <a:xfrm>
            <a:off x="6094440" y="704542"/>
            <a:ext cx="5242809" cy="5357531"/>
            <a:chOff x="6094440" y="704542"/>
            <a:chExt cx="5242809" cy="5357531"/>
          </a:xfrm>
        </p:grpSpPr>
        <p:pic>
          <p:nvPicPr>
            <p:cNvPr id="1026" name="Picture 2" descr="25 ideas de Muñecos blancos 3D | imagenes para diapositivas, imagenes para  presentaciones, gente blanca">
              <a:extLst>
                <a:ext uri="{FF2B5EF4-FFF2-40B4-BE49-F238E27FC236}">
                  <a16:creationId xmlns:a16="http://schemas.microsoft.com/office/drawing/2014/main" id="{21DBD6F4-CE68-25DA-5826-C1F4C58C21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440" y="3014073"/>
              <a:ext cx="3048000" cy="30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Bocadillo nube: nube 18">
              <a:extLst>
                <a:ext uri="{FF2B5EF4-FFF2-40B4-BE49-F238E27FC236}">
                  <a16:creationId xmlns:a16="http://schemas.microsoft.com/office/drawing/2014/main" id="{D8845E80-ED74-C141-BD87-FB58107432F3}"/>
                </a:ext>
              </a:extLst>
            </p:cNvPr>
            <p:cNvSpPr/>
            <p:nvPr/>
          </p:nvSpPr>
          <p:spPr>
            <a:xfrm>
              <a:off x="7450111" y="704542"/>
              <a:ext cx="3887138" cy="2248220"/>
            </a:xfrm>
            <a:prstGeom prst="cloudCallout">
              <a:avLst>
                <a:gd name="adj1" fmla="val -28931"/>
                <a:gd name="adj2" fmla="val 8783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470082B-4A6C-3121-4FC8-B3F18266D3D8}"/>
              </a:ext>
            </a:extLst>
          </p:cNvPr>
          <p:cNvSpPr txBox="1"/>
          <p:nvPr/>
        </p:nvSpPr>
        <p:spPr>
          <a:xfrm>
            <a:off x="7767247" y="1166932"/>
            <a:ext cx="32528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especies de parasitoides están asociadas al cultivo de maíz (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Zea </a:t>
            </a:r>
            <a:r>
              <a:rPr lang="es-MX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mays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en la región Amazonas, Perú?</a:t>
            </a:r>
            <a:endParaRPr lang="es-P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Species New to Science: [Entomology • 2023] Eiphosoma caqueta, E. eneke, E.  interpunctum, etc. • Five New Species of Eiphosoma Cresson, 1865  (Hymenoptera: Ichneumonidae: Cremastinae) from Colombia, New Records, and A  Key to Colombian Species">
            <a:extLst>
              <a:ext uri="{FF2B5EF4-FFF2-40B4-BE49-F238E27FC236}">
                <a16:creationId xmlns:a16="http://schemas.microsoft.com/office/drawing/2014/main" id="{D5F244CD-A125-CCA6-6F67-B5CC70B624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 bwMode="auto">
          <a:xfrm>
            <a:off x="2042272" y="1998088"/>
            <a:ext cx="2682666" cy="212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41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"/>
    </mc:Choice>
    <mc:Fallback xmlns="">
      <p:transition spd="slow" advTm="61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005CF7D-B297-6DB0-01CB-14A8910C2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6FE02B4-0C46-4F8F-95ED-10A87E0C0F36}"/>
              </a:ext>
            </a:extLst>
          </p:cNvPr>
          <p:cNvSpPr txBox="1"/>
          <p:nvPr/>
        </p:nvSpPr>
        <p:spPr>
          <a:xfrm>
            <a:off x="1890620" y="615405"/>
            <a:ext cx="30543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 OBJETIVOS</a:t>
            </a:r>
          </a:p>
          <a:p>
            <a:endParaRPr lang="es-PE" sz="320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6C06041-7FF4-DA37-2677-81671F87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486" y="6320457"/>
            <a:ext cx="2743200" cy="365125"/>
          </a:xfrm>
        </p:spPr>
        <p:txBody>
          <a:bodyPr/>
          <a:lstStyle/>
          <a:p>
            <a:fld id="{6D6938E2-E32A-4AE3-A240-0183F91F0C71}" type="datetime1">
              <a:rPr lang="es-PE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fld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24057BE-190A-9EE4-8A43-30C0AD99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886" y="6320457"/>
            <a:ext cx="4114800" cy="365125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DE TESIS</a:t>
            </a:r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79FD6C-E41C-B025-3E57-F275AD30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7391" y="6292249"/>
            <a:ext cx="2743200" cy="365125"/>
          </a:xfrm>
        </p:spPr>
        <p:txBody>
          <a:bodyPr/>
          <a:lstStyle/>
          <a:p>
            <a:fld id="{87D75D39-ABF2-421A-A49D-D1890B74CF6F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8EEB121-5F7D-8768-0F54-2ECF0F96CB51}"/>
              </a:ext>
            </a:extLst>
          </p:cNvPr>
          <p:cNvCxnSpPr/>
          <p:nvPr/>
        </p:nvCxnSpPr>
        <p:spPr>
          <a:xfrm>
            <a:off x="739588" y="1196788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129E17B1-9830-A0C9-1942-4BA91D6BCEDD}"/>
              </a:ext>
            </a:extLst>
          </p:cNvPr>
          <p:cNvSpPr/>
          <p:nvPr/>
        </p:nvSpPr>
        <p:spPr>
          <a:xfrm>
            <a:off x="269823" y="1805623"/>
            <a:ext cx="4070677" cy="3965587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A9B3FC0-C26A-751A-A545-FACD301ABE79}"/>
              </a:ext>
            </a:extLst>
          </p:cNvPr>
          <p:cNvSpPr txBox="1"/>
          <p:nvPr/>
        </p:nvSpPr>
        <p:spPr>
          <a:xfrm>
            <a:off x="985766" y="2901892"/>
            <a:ext cx="263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spc="-10" dirty="0">
                <a:effectLst/>
                <a:highlight>
                  <a:srgbClr val="C0C0C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 GENERAL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CB25830-7D08-5C18-23DE-AF6904E671BB}"/>
              </a:ext>
            </a:extLst>
          </p:cNvPr>
          <p:cNvSpPr/>
          <p:nvPr/>
        </p:nvSpPr>
        <p:spPr>
          <a:xfrm>
            <a:off x="3934551" y="2549627"/>
            <a:ext cx="180414" cy="190267"/>
          </a:xfrm>
          <a:prstGeom prst="ellipse">
            <a:avLst/>
          </a:prstGeom>
          <a:solidFill>
            <a:srgbClr val="04A597"/>
          </a:solidFill>
          <a:ln>
            <a:solidFill>
              <a:srgbClr val="04A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BFF5938-F0E4-4A2B-BE71-32EC4A4760C5}"/>
              </a:ext>
            </a:extLst>
          </p:cNvPr>
          <p:cNvSpPr/>
          <p:nvPr/>
        </p:nvSpPr>
        <p:spPr>
          <a:xfrm>
            <a:off x="4284918" y="3557699"/>
            <a:ext cx="180414" cy="190267"/>
          </a:xfrm>
          <a:prstGeom prst="ellipse">
            <a:avLst/>
          </a:prstGeom>
          <a:solidFill>
            <a:srgbClr val="3E74AB"/>
          </a:solidFill>
          <a:ln>
            <a:solidFill>
              <a:srgbClr val="3E74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028148C-D6C7-EF16-90A9-FB10175CC4D6}"/>
              </a:ext>
            </a:extLst>
          </p:cNvPr>
          <p:cNvSpPr/>
          <p:nvPr/>
        </p:nvSpPr>
        <p:spPr>
          <a:xfrm>
            <a:off x="4074226" y="4568132"/>
            <a:ext cx="180414" cy="190267"/>
          </a:xfrm>
          <a:prstGeom prst="ellipse">
            <a:avLst/>
          </a:prstGeom>
          <a:solidFill>
            <a:srgbClr val="5F5CA2"/>
          </a:solidFill>
          <a:ln>
            <a:solidFill>
              <a:srgbClr val="5F5C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9151DEC-ACFA-F074-CF75-2D7CA24F11BB}"/>
              </a:ext>
            </a:extLst>
          </p:cNvPr>
          <p:cNvCxnSpPr>
            <a:cxnSpLocks/>
            <a:stCxn id="22" idx="6"/>
            <a:endCxn id="33" idx="2"/>
          </p:cNvCxnSpPr>
          <p:nvPr/>
        </p:nvCxnSpPr>
        <p:spPr>
          <a:xfrm>
            <a:off x="4114965" y="2644761"/>
            <a:ext cx="870076" cy="15638"/>
          </a:xfrm>
          <a:prstGeom prst="line">
            <a:avLst/>
          </a:prstGeom>
          <a:ln>
            <a:solidFill>
              <a:srgbClr val="04A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25C1BBC-C65E-54D6-FDD0-8AC6983DC336}"/>
              </a:ext>
            </a:extLst>
          </p:cNvPr>
          <p:cNvCxnSpPr>
            <a:cxnSpLocks/>
            <a:stCxn id="23" idx="6"/>
            <a:endCxn id="35" idx="2"/>
          </p:cNvCxnSpPr>
          <p:nvPr/>
        </p:nvCxnSpPr>
        <p:spPr>
          <a:xfrm>
            <a:off x="4465332" y="3652833"/>
            <a:ext cx="517949" cy="7766"/>
          </a:xfrm>
          <a:prstGeom prst="line">
            <a:avLst/>
          </a:prstGeom>
          <a:ln>
            <a:solidFill>
              <a:srgbClr val="3E74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B5265288-402A-759E-00C9-27671113260A}"/>
              </a:ext>
            </a:extLst>
          </p:cNvPr>
          <p:cNvCxnSpPr>
            <a:cxnSpLocks/>
            <a:stCxn id="24" idx="6"/>
            <a:endCxn id="37" idx="2"/>
          </p:cNvCxnSpPr>
          <p:nvPr/>
        </p:nvCxnSpPr>
        <p:spPr>
          <a:xfrm>
            <a:off x="4254640" y="4663266"/>
            <a:ext cx="734201" cy="2"/>
          </a:xfrm>
          <a:prstGeom prst="line">
            <a:avLst/>
          </a:prstGeom>
          <a:ln>
            <a:solidFill>
              <a:srgbClr val="5F5C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E37C7264-0E78-7A21-4742-7C712B4BDAEA}"/>
              </a:ext>
            </a:extLst>
          </p:cNvPr>
          <p:cNvSpPr/>
          <p:nvPr/>
        </p:nvSpPr>
        <p:spPr>
          <a:xfrm>
            <a:off x="5041864" y="2338591"/>
            <a:ext cx="622301" cy="643613"/>
          </a:xfrm>
          <a:prstGeom prst="ellipse">
            <a:avLst/>
          </a:prstGeom>
          <a:solidFill>
            <a:srgbClr val="04A597"/>
          </a:solidFill>
          <a:ln>
            <a:solidFill>
              <a:srgbClr val="04A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7356300-594C-3800-1A3B-686818FC2821}"/>
              </a:ext>
            </a:extLst>
          </p:cNvPr>
          <p:cNvSpPr/>
          <p:nvPr/>
        </p:nvSpPr>
        <p:spPr>
          <a:xfrm>
            <a:off x="4985041" y="2274006"/>
            <a:ext cx="735948" cy="772785"/>
          </a:xfrm>
          <a:prstGeom prst="ellipse">
            <a:avLst/>
          </a:prstGeom>
          <a:noFill/>
          <a:ln>
            <a:solidFill>
              <a:srgbClr val="04A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0E1CA17-C384-AACF-D31C-019C21A34770}"/>
              </a:ext>
            </a:extLst>
          </p:cNvPr>
          <p:cNvSpPr/>
          <p:nvPr/>
        </p:nvSpPr>
        <p:spPr>
          <a:xfrm>
            <a:off x="5040104" y="3338791"/>
            <a:ext cx="622301" cy="643613"/>
          </a:xfrm>
          <a:prstGeom prst="ellipse">
            <a:avLst/>
          </a:prstGeom>
          <a:solidFill>
            <a:srgbClr val="3E74AB"/>
          </a:solidFill>
          <a:ln>
            <a:solidFill>
              <a:srgbClr val="3E74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E7FEC286-51D3-A60F-FAB4-15D4DF048D2B}"/>
              </a:ext>
            </a:extLst>
          </p:cNvPr>
          <p:cNvSpPr/>
          <p:nvPr/>
        </p:nvSpPr>
        <p:spPr>
          <a:xfrm>
            <a:off x="4983281" y="3274206"/>
            <a:ext cx="735948" cy="772785"/>
          </a:xfrm>
          <a:prstGeom prst="ellipse">
            <a:avLst/>
          </a:prstGeom>
          <a:noFill/>
          <a:ln>
            <a:solidFill>
              <a:srgbClr val="3E74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F789D239-0A90-C2AF-1321-DC8C3CECC567}"/>
              </a:ext>
            </a:extLst>
          </p:cNvPr>
          <p:cNvSpPr/>
          <p:nvPr/>
        </p:nvSpPr>
        <p:spPr>
          <a:xfrm>
            <a:off x="5045664" y="4341460"/>
            <a:ext cx="622301" cy="643613"/>
          </a:xfrm>
          <a:prstGeom prst="ellipse">
            <a:avLst/>
          </a:prstGeom>
          <a:solidFill>
            <a:srgbClr val="5F5CA2"/>
          </a:solidFill>
          <a:ln>
            <a:solidFill>
              <a:srgbClr val="5F5C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71CAFD49-0D45-F31D-DED6-66F510A3690B}"/>
              </a:ext>
            </a:extLst>
          </p:cNvPr>
          <p:cNvSpPr/>
          <p:nvPr/>
        </p:nvSpPr>
        <p:spPr>
          <a:xfrm>
            <a:off x="4988841" y="4276875"/>
            <a:ext cx="735948" cy="772785"/>
          </a:xfrm>
          <a:prstGeom prst="ellipse">
            <a:avLst/>
          </a:prstGeom>
          <a:noFill/>
          <a:ln>
            <a:solidFill>
              <a:srgbClr val="5F5C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6989C1B-AA2F-F208-AE17-80F42E17B1F7}"/>
              </a:ext>
            </a:extLst>
          </p:cNvPr>
          <p:cNvSpPr txBox="1"/>
          <p:nvPr/>
        </p:nvSpPr>
        <p:spPr>
          <a:xfrm>
            <a:off x="7247034" y="1362183"/>
            <a:ext cx="305434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b="1" spc="-10" dirty="0">
                <a:latin typeface="Times New Roman" panose="02020603050405020304" pitchFamily="18" charset="0"/>
              </a:rPr>
              <a:t>OBJETIVOS ESPECÌFICOS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1E62B2-4C1D-3CA3-7347-F2D0C52984BC}"/>
              </a:ext>
            </a:extLst>
          </p:cNvPr>
          <p:cNvSpPr txBox="1"/>
          <p:nvPr/>
        </p:nvSpPr>
        <p:spPr>
          <a:xfrm>
            <a:off x="896686" y="3429000"/>
            <a:ext cx="2885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Identificar taxonómicamente los parasitoides asociados al cultivo de maíz (</a:t>
            </a: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Zea </a:t>
            </a:r>
            <a:r>
              <a:rPr lang="es-MX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en la región Amazonas, Perú.</a:t>
            </a: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CE5DA6-502D-36E5-21F9-81D077D4FD18}"/>
              </a:ext>
            </a:extLst>
          </p:cNvPr>
          <p:cNvSpPr txBox="1"/>
          <p:nvPr/>
        </p:nvSpPr>
        <p:spPr>
          <a:xfrm>
            <a:off x="5719228" y="1989057"/>
            <a:ext cx="56802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Evaluar la presencia de parasitoides asociados a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Spodoptera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Frugiperda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diferentes estadios de desarrollo (huevo, larva y pupa) mediante la colecta en campo y crianza bajo condiciones controladas.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0E86C9C-0DE1-05D0-E8FD-FFAAE40531B6}"/>
              </a:ext>
            </a:extLst>
          </p:cNvPr>
          <p:cNvSpPr txBox="1"/>
          <p:nvPr/>
        </p:nvSpPr>
        <p:spPr>
          <a:xfrm>
            <a:off x="5719228" y="3387160"/>
            <a:ext cx="5680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Identificar morfológicamente los parasitoides asociados a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Spodoptera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Frugiperda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utilizando claves taxonómicas.</a:t>
            </a:r>
          </a:p>
        </p:txBody>
      </p:sp>
      <p:pic>
        <p:nvPicPr>
          <p:cNvPr id="2050" name="Picture 2" descr="Imágenes de Maiz Planta - Descarga gratuita en Freepik">
            <a:extLst>
              <a:ext uri="{FF2B5EF4-FFF2-40B4-BE49-F238E27FC236}">
                <a16:creationId xmlns:a16="http://schemas.microsoft.com/office/drawing/2014/main" id="{2B27FFCF-B432-6F99-4C98-A5431C9D9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649" y="2333694"/>
            <a:ext cx="503756" cy="622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Imágenes de Maiz Planta - Descarga gratuita en Freepik">
            <a:extLst>
              <a:ext uri="{FF2B5EF4-FFF2-40B4-BE49-F238E27FC236}">
                <a16:creationId xmlns:a16="http://schemas.microsoft.com/office/drawing/2014/main" id="{E6418FAE-F5C7-BAA2-9FAC-7FF64DB40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082" y="3341765"/>
            <a:ext cx="503756" cy="622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Imágenes de Maiz Planta - Descarga gratuita en Freepik">
            <a:extLst>
              <a:ext uri="{FF2B5EF4-FFF2-40B4-BE49-F238E27FC236}">
                <a16:creationId xmlns:a16="http://schemas.microsoft.com/office/drawing/2014/main" id="{C55A104D-E9DF-9E6E-8E68-5B3F003FC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515" y="4288677"/>
            <a:ext cx="503756" cy="622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6087F46-3FAC-B7C4-2D13-10191CD33674}"/>
              </a:ext>
            </a:extLst>
          </p:cNvPr>
          <p:cNvSpPr txBox="1"/>
          <p:nvPr/>
        </p:nvSpPr>
        <p:spPr>
          <a:xfrm>
            <a:off x="5769122" y="4262601"/>
            <a:ext cx="56802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800"/>
              </a:spcAft>
            </a:pPr>
            <a:r>
              <a:rPr lang="es-PE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Analizar diversidad taxonómica (familia, género y especies) de parasitoides asociados a </a:t>
            </a:r>
            <a:r>
              <a:rPr lang="es-PE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Spodoptera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Frugiperda</a:t>
            </a:r>
            <a:r>
              <a:rPr lang="es-PE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 los tres pisos altitudinales. </a:t>
            </a:r>
            <a:endParaRPr lang="es-P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86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8"/>
    </mc:Choice>
    <mc:Fallback xmlns="">
      <p:transition spd="slow" advTm="65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7E39-EEA7-8F8F-222E-487129E6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1030EB0-62EE-6E53-A1B7-F3A2729CF1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016EB1FB-210C-CAE7-A372-C9A23F77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486" y="6320457"/>
            <a:ext cx="2743200" cy="365125"/>
          </a:xfrm>
        </p:spPr>
        <p:txBody>
          <a:bodyPr/>
          <a:lstStyle/>
          <a:p>
            <a:fld id="{6D6938E2-E32A-4AE3-A240-0183F91F0C71}" type="datetime1">
              <a:rPr lang="es-PE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fld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47B124E-6F1E-93AE-2057-34BCA19C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886" y="6320457"/>
            <a:ext cx="4114800" cy="365125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DE TESIS</a:t>
            </a:r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570F4FF8-580E-950E-523C-998C6080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7391" y="6292249"/>
            <a:ext cx="2743200" cy="365125"/>
          </a:xfrm>
        </p:spPr>
        <p:txBody>
          <a:bodyPr/>
          <a:lstStyle/>
          <a:p>
            <a:fld id="{87D75D39-ABF2-421A-A49D-D1890B74CF6F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F4A50B1-7DA1-61CF-6049-F002D7BBF07E}"/>
              </a:ext>
            </a:extLst>
          </p:cNvPr>
          <p:cNvSpPr txBox="1"/>
          <p:nvPr/>
        </p:nvSpPr>
        <p:spPr>
          <a:xfrm>
            <a:off x="1370124" y="167521"/>
            <a:ext cx="4205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 ANTECEDENTES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A6A411D-7EC0-537E-149E-A7C404AA6887}"/>
              </a:ext>
            </a:extLst>
          </p:cNvPr>
          <p:cNvCxnSpPr/>
          <p:nvPr/>
        </p:nvCxnSpPr>
        <p:spPr>
          <a:xfrm>
            <a:off x="544716" y="752296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aphicFrame>
        <p:nvGraphicFramePr>
          <p:cNvPr id="20" name="Diagrama 19">
            <a:extLst>
              <a:ext uri="{FF2B5EF4-FFF2-40B4-BE49-F238E27FC236}">
                <a16:creationId xmlns:a16="http://schemas.microsoft.com/office/drawing/2014/main" id="{A14A834D-4CE4-18F4-A2BF-A93F992126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3224023"/>
              </p:ext>
            </p:extLst>
          </p:nvPr>
        </p:nvGraphicFramePr>
        <p:xfrm>
          <a:off x="825522" y="0"/>
          <a:ext cx="10540955" cy="6513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179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832"/>
    </mc:Choice>
    <mc:Fallback xmlns="">
      <p:transition spd="slow" advTm="11183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5742-AC00-E7CF-AE2A-14AC1D4E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8456B0A-6AAE-F423-B6A4-C28574806C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47B7B001-90D5-16EC-B9B7-ED80F4EF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486" y="6320457"/>
            <a:ext cx="2743200" cy="365125"/>
          </a:xfrm>
        </p:spPr>
        <p:txBody>
          <a:bodyPr/>
          <a:lstStyle/>
          <a:p>
            <a:fld id="{6D6938E2-E32A-4AE3-A240-0183F91F0C71}" type="datetime1">
              <a:rPr lang="es-PE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fld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C8AB514A-1895-1BAF-551E-65515902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886" y="6320457"/>
            <a:ext cx="4114800" cy="365125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DE TESIS</a:t>
            </a:r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90AFF2C6-A63A-0E83-0E7A-6F76E8BB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7391" y="6292249"/>
            <a:ext cx="2743200" cy="365125"/>
          </a:xfrm>
        </p:spPr>
        <p:txBody>
          <a:bodyPr/>
          <a:lstStyle/>
          <a:p>
            <a:fld id="{87D75D39-ABF2-421A-A49D-D1890B74CF6F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1D4F1C-E695-12D3-F3E8-69C7EE07C248}"/>
              </a:ext>
            </a:extLst>
          </p:cNvPr>
          <p:cNvSpPr txBox="1"/>
          <p:nvPr/>
        </p:nvSpPr>
        <p:spPr>
          <a:xfrm>
            <a:off x="1564996" y="612013"/>
            <a:ext cx="4205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 HIPOTESIS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4FC3865-31E1-191E-8701-C050499199D9}"/>
              </a:ext>
            </a:extLst>
          </p:cNvPr>
          <p:cNvCxnSpPr/>
          <p:nvPr/>
        </p:nvCxnSpPr>
        <p:spPr>
          <a:xfrm>
            <a:off x="739588" y="1196788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8EBCD0-58A4-449C-57D7-144856A0DD97}"/>
              </a:ext>
            </a:extLst>
          </p:cNvPr>
          <p:cNvSpPr txBox="1"/>
          <p:nvPr/>
        </p:nvSpPr>
        <p:spPr>
          <a:xfrm>
            <a:off x="1078136" y="1578429"/>
            <a:ext cx="5017864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espera que los parasitoides identificados a partir de las muestras de campo pertenecen a familias reportadas previamente en otras regiones de Perú y el mundo, pero que existirán al menos 2 especies nuevas o registros locales que enriquecerán el listado preliminar de parasitoides asociados a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Spodoptera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frugiperda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el cultivo de maíz en la región Amazonas.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FCB156E-1208-9257-D6D7-E9766E670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265" y="1307344"/>
            <a:ext cx="5794252" cy="368930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EBEF40F-44AD-E34C-2546-8330F2B50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86" y="4013487"/>
            <a:ext cx="5171508" cy="167222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6575AFD-AFFC-D140-E3B1-E5D639EB0EF4}"/>
              </a:ext>
            </a:extLst>
          </p:cNvPr>
          <p:cNvSpPr txBox="1"/>
          <p:nvPr/>
        </p:nvSpPr>
        <p:spPr>
          <a:xfrm>
            <a:off x="7435121" y="4996653"/>
            <a:ext cx="383239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Parasitpides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familia </a:t>
            </a:r>
            <a:r>
              <a:rPr lang="es-PE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Braconidae</a:t>
            </a:r>
            <a:endParaRPr lang="es-P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12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13"/>
    </mc:Choice>
    <mc:Fallback xmlns="">
      <p:transition spd="slow" advTm="2521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070BE-7620-0F20-27CE-2520D557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0F42ADF-2C88-8C26-EAF7-A99895735E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43367405-9A3D-A0E0-86AA-8875BA6C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486" y="6320457"/>
            <a:ext cx="2743200" cy="365125"/>
          </a:xfrm>
        </p:spPr>
        <p:txBody>
          <a:bodyPr/>
          <a:lstStyle/>
          <a:p>
            <a:fld id="{6D6938E2-E32A-4AE3-A240-0183F91F0C71}" type="datetime1">
              <a:rPr lang="es-PE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fld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D590BD42-FBDA-52BD-1E96-75BB8D7A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886" y="6320457"/>
            <a:ext cx="4114800" cy="365125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DE TESIS</a:t>
            </a:r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9993557B-0272-2DC3-D8BB-39A1CBE5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7391" y="6292249"/>
            <a:ext cx="2743200" cy="365125"/>
          </a:xfrm>
        </p:spPr>
        <p:txBody>
          <a:bodyPr/>
          <a:lstStyle/>
          <a:p>
            <a:fld id="{87D75D39-ABF2-421A-A49D-D1890B74CF6F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1725979-47A9-D6C1-8198-4A5F34C1A090}"/>
              </a:ext>
            </a:extLst>
          </p:cNvPr>
          <p:cNvSpPr txBox="1"/>
          <p:nvPr/>
        </p:nvSpPr>
        <p:spPr>
          <a:xfrm>
            <a:off x="1205232" y="206623"/>
            <a:ext cx="4205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METODOLOGÍA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A769E0A-F74E-B45B-0098-F7EB297CAEF9}"/>
              </a:ext>
            </a:extLst>
          </p:cNvPr>
          <p:cNvCxnSpPr/>
          <p:nvPr/>
        </p:nvCxnSpPr>
        <p:spPr>
          <a:xfrm>
            <a:off x="334016" y="797086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D47456-4259-E2F3-F70B-F0469A362E7F}"/>
              </a:ext>
            </a:extLst>
          </p:cNvPr>
          <p:cNvSpPr txBox="1"/>
          <p:nvPr/>
        </p:nvSpPr>
        <p:spPr>
          <a:xfrm>
            <a:off x="334016" y="1423947"/>
            <a:ext cx="6819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Constituida por plantaciones de maíz (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Zea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que presenten daños y presencia de individuos de gusano cogollero (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Spodoptera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frugiperda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ubicadas en tres pisos altitudinales de la región Amazonas.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BF992F2-E3CA-6681-6187-C8024B4E3B89}"/>
              </a:ext>
            </a:extLst>
          </p:cNvPr>
          <p:cNvSpPr txBox="1"/>
          <p:nvPr/>
        </p:nvSpPr>
        <p:spPr>
          <a:xfrm>
            <a:off x="-114162" y="1070277"/>
            <a:ext cx="2308485" cy="368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2" algn="just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Población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E00191A-7148-F7F6-ED17-F3952A13A562}"/>
              </a:ext>
            </a:extLst>
          </p:cNvPr>
          <p:cNvSpPr txBox="1"/>
          <p:nvPr/>
        </p:nvSpPr>
        <p:spPr>
          <a:xfrm>
            <a:off x="334016" y="2937162"/>
            <a:ext cx="53555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muestra estará constituida por diferentes estadios de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Spodoptera</a:t>
            </a:r>
            <a:r>
              <a:rPr lang="es-P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frugiperda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(huevo, larva y/o pupas) con apariencia de parasitismo colectados en parcelas de maíz de tres pisos altitudinales de la región Amazonas.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55746D4-CB9D-B71C-7856-727A9B37D45F}"/>
              </a:ext>
            </a:extLst>
          </p:cNvPr>
          <p:cNvSpPr txBox="1"/>
          <p:nvPr/>
        </p:nvSpPr>
        <p:spPr>
          <a:xfrm>
            <a:off x="-172397" y="4311345"/>
            <a:ext cx="2424954" cy="3687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2" algn="just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Muestreo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65BE96A-3D2D-CE90-B17A-75324331D459}"/>
              </a:ext>
            </a:extLst>
          </p:cNvPr>
          <p:cNvSpPr txBox="1"/>
          <p:nvPr/>
        </p:nvSpPr>
        <p:spPr>
          <a:xfrm>
            <a:off x="-562278" y="4772086"/>
            <a:ext cx="6251820" cy="966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empleará un muestreo no probabilístico intencional en parcelas de maíz representativas de los tres pisos altitudinales de la región Amazonas.</a:t>
            </a:r>
            <a:endParaRPr lang="es-P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C70F875-A7EA-A68B-F3D2-A54A6C057B47}"/>
              </a:ext>
            </a:extLst>
          </p:cNvPr>
          <p:cNvSpPr txBox="1"/>
          <p:nvPr/>
        </p:nvSpPr>
        <p:spPr>
          <a:xfrm>
            <a:off x="-143178" y="2370220"/>
            <a:ext cx="2424953" cy="368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2" algn="just">
              <a:lnSpc>
                <a:spcPct val="107000"/>
              </a:lnSpc>
              <a:spcAft>
                <a:spcPts val="800"/>
              </a:spcAft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Muestra </a:t>
            </a:r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8C7DEA59-9A7F-5297-DDB4-61990E359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89819"/>
              </p:ext>
            </p:extLst>
          </p:nvPr>
        </p:nvGraphicFramePr>
        <p:xfrm>
          <a:off x="6502460" y="2935780"/>
          <a:ext cx="5689540" cy="2750903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687995">
                  <a:extLst>
                    <a:ext uri="{9D8B030D-6E8A-4147-A177-3AD203B41FA5}">
                      <a16:colId xmlns:a16="http://schemas.microsoft.com/office/drawing/2014/main" val="1022027510"/>
                    </a:ext>
                  </a:extLst>
                </a:gridCol>
                <a:gridCol w="1346783">
                  <a:extLst>
                    <a:ext uri="{9D8B030D-6E8A-4147-A177-3AD203B41FA5}">
                      <a16:colId xmlns:a16="http://schemas.microsoft.com/office/drawing/2014/main" val="657479143"/>
                    </a:ext>
                  </a:extLst>
                </a:gridCol>
                <a:gridCol w="2654762">
                  <a:extLst>
                    <a:ext uri="{9D8B030D-6E8A-4147-A177-3AD203B41FA5}">
                      <a16:colId xmlns:a16="http://schemas.microsoft.com/office/drawing/2014/main" val="804681645"/>
                    </a:ext>
                  </a:extLst>
                </a:gridCol>
              </a:tblGrid>
              <a:tr h="2432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cap="all">
                          <a:effectLst/>
                        </a:rPr>
                        <a:t>Tipo de Variable</a:t>
                      </a:r>
                      <a:endParaRPr lang="es-PE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cap="all">
                          <a:effectLst/>
                        </a:rPr>
                        <a:t>Variable</a:t>
                      </a:r>
                      <a:endParaRPr lang="es-PE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cap="all">
                          <a:effectLst/>
                        </a:rPr>
                        <a:t>Descripción</a:t>
                      </a:r>
                      <a:endParaRPr lang="es-PE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6293376"/>
                  </a:ext>
                </a:extLst>
              </a:tr>
              <a:tr h="754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cap="all" dirty="0">
                          <a:effectLst/>
                        </a:rPr>
                        <a:t>cualitativa nominal</a:t>
                      </a:r>
                      <a:endParaRPr lang="es-PE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dirty="0">
                          <a:effectLst/>
                        </a:rPr>
                        <a:t>Especies de parasitoides</a:t>
                      </a:r>
                      <a:endParaRPr lang="es-PE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dirty="0">
                          <a:effectLst/>
                        </a:rPr>
                        <a:t>Número y tipo de especies identificadas asociadas a </a:t>
                      </a:r>
                      <a:r>
                        <a:rPr lang="es-PE" sz="1200" kern="100" dirty="0" err="1">
                          <a:effectLst/>
                        </a:rPr>
                        <a:t>Spodoptera</a:t>
                      </a:r>
                      <a:r>
                        <a:rPr lang="es-PE" sz="1200" kern="100" dirty="0">
                          <a:effectLst/>
                        </a:rPr>
                        <a:t> </a:t>
                      </a:r>
                      <a:r>
                        <a:rPr lang="es-PE" sz="1200" kern="100" dirty="0" err="1">
                          <a:effectLst/>
                        </a:rPr>
                        <a:t>frugiperda</a:t>
                      </a:r>
                      <a:r>
                        <a:rPr lang="es-PE" sz="1200" kern="100" dirty="0">
                          <a:effectLst/>
                        </a:rPr>
                        <a:t>.</a:t>
                      </a:r>
                      <a:endParaRPr lang="es-PE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5969659"/>
                  </a:ext>
                </a:extLst>
              </a:tr>
              <a:tr h="4990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cap="all">
                          <a:effectLst/>
                        </a:rPr>
                        <a:t>cualitativa nominal</a:t>
                      </a:r>
                      <a:endParaRPr lang="es-PE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>
                          <a:effectLst/>
                        </a:rPr>
                        <a:t>Familia y genero taxonómico</a:t>
                      </a:r>
                      <a:endParaRPr lang="es-PE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dirty="0">
                          <a:effectLst/>
                        </a:rPr>
                        <a:t>Clasificación de los parasitoides según familia y genero.</a:t>
                      </a:r>
                      <a:endParaRPr lang="es-PE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7839267"/>
                  </a:ext>
                </a:extLst>
              </a:tr>
              <a:tr h="7548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cap="all">
                          <a:effectLst/>
                        </a:rPr>
                        <a:t>cualitativa ordinal</a:t>
                      </a:r>
                      <a:endParaRPr lang="es-PE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>
                          <a:effectLst/>
                        </a:rPr>
                        <a:t>Estadio hospedero parasitado</a:t>
                      </a:r>
                      <a:endParaRPr lang="es-PE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>
                          <a:effectLst/>
                        </a:rPr>
                        <a:t>Estado de la plaga en el que se encuentra el parasitoide (huevo, larva, pupa).</a:t>
                      </a:r>
                      <a:endParaRPr lang="es-PE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2224491"/>
                  </a:ext>
                </a:extLst>
              </a:tr>
              <a:tr h="4990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cap="all" dirty="0">
                          <a:effectLst/>
                        </a:rPr>
                        <a:t>cuantitativa discreta</a:t>
                      </a:r>
                      <a:endParaRPr lang="es-PE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dirty="0">
                          <a:effectLst/>
                        </a:rPr>
                        <a:t>Frecuencia de parasitoides</a:t>
                      </a:r>
                      <a:endParaRPr lang="es-PE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200" kern="100" dirty="0">
                          <a:effectLst/>
                        </a:rPr>
                        <a:t>Número especies, géneros y familias </a:t>
                      </a:r>
                      <a:endParaRPr lang="es-PE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7021506"/>
                  </a:ext>
                </a:extLst>
              </a:tr>
            </a:tbl>
          </a:graphicData>
        </a:graphic>
      </p:graphicFrame>
      <p:sp>
        <p:nvSpPr>
          <p:cNvPr id="25" name="CuadroTexto 24">
            <a:extLst>
              <a:ext uri="{FF2B5EF4-FFF2-40B4-BE49-F238E27FC236}">
                <a16:creationId xmlns:a16="http://schemas.microsoft.com/office/drawing/2014/main" id="{B512C54F-D7A7-D4F3-97AF-687CB7C738DC}"/>
              </a:ext>
            </a:extLst>
          </p:cNvPr>
          <p:cNvSpPr txBox="1"/>
          <p:nvPr/>
        </p:nvSpPr>
        <p:spPr>
          <a:xfrm>
            <a:off x="10588991" y="2554597"/>
            <a:ext cx="618344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PE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95877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826"/>
    </mc:Choice>
    <mc:Fallback xmlns="">
      <p:transition spd="slow" advTm="7382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089C6-4BE9-D4E6-BAFD-51A6CC78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9AA2E69-1E16-BDB9-F59C-A0FA960292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FBE4418B-0F8D-5EC5-F3D7-225324F324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486" y="6320457"/>
            <a:ext cx="2743200" cy="365125"/>
          </a:xfrm>
        </p:spPr>
        <p:txBody>
          <a:bodyPr/>
          <a:lstStyle/>
          <a:p>
            <a:fld id="{6D6938E2-E32A-4AE3-A240-0183F91F0C71}" type="datetime1">
              <a:rPr lang="es-PE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fld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1D76967F-4B8E-07D7-79F8-54B6A8E1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886" y="6320457"/>
            <a:ext cx="4114800" cy="365125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DE TESIS</a:t>
            </a:r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8AECC07-8EE5-40FD-55A7-2B988FD5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7391" y="6292249"/>
            <a:ext cx="2743200" cy="365125"/>
          </a:xfrm>
        </p:spPr>
        <p:txBody>
          <a:bodyPr/>
          <a:lstStyle/>
          <a:p>
            <a:fld id="{87D75D39-ABF2-421A-A49D-D1890B74CF6F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623430C-23BE-0558-FB60-1C48297733C2}"/>
              </a:ext>
            </a:extLst>
          </p:cNvPr>
          <p:cNvSpPr txBox="1"/>
          <p:nvPr/>
        </p:nvSpPr>
        <p:spPr>
          <a:xfrm>
            <a:off x="1205232" y="206623"/>
            <a:ext cx="4205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METODOLOGÍA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424823F4-01CC-2B34-CEAA-FA1E509EE332}"/>
              </a:ext>
            </a:extLst>
          </p:cNvPr>
          <p:cNvCxnSpPr/>
          <p:nvPr/>
        </p:nvCxnSpPr>
        <p:spPr>
          <a:xfrm>
            <a:off x="334016" y="797086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9DB73B2F-5A6D-DA05-3049-9577F9D3B95B}"/>
              </a:ext>
            </a:extLst>
          </p:cNvPr>
          <p:cNvSpPr txBox="1"/>
          <p:nvPr/>
        </p:nvSpPr>
        <p:spPr>
          <a:xfrm>
            <a:off x="-402944" y="1157282"/>
            <a:ext cx="5813556" cy="6651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2" algn="just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Recolección y </a:t>
            </a:r>
            <a:r>
              <a:rPr lang="es-PE" sz="1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cria</a:t>
            </a:r>
            <a:r>
              <a:rPr lang="es-PE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s-PE" sz="1800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s-PE" sz="1800" b="1" i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frugiperda</a:t>
            </a:r>
            <a:r>
              <a:rPr lang="es-PE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y observación de parasitoides emergentes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1AAAA79-2C7F-7882-73EE-27B4F2D0073B}"/>
              </a:ext>
            </a:extLst>
          </p:cNvPr>
          <p:cNvSpPr txBox="1"/>
          <p:nvPr/>
        </p:nvSpPr>
        <p:spPr>
          <a:xfrm>
            <a:off x="518524" y="2059169"/>
            <a:ext cx="5027837" cy="3332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seguirá la metodología propuesta por </a:t>
            </a:r>
            <a:r>
              <a:rPr lang="es-PE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PE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Lestari</a:t>
            </a:r>
            <a:r>
              <a:rPr lang="es-PE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 al., 2024)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La exploración de parasitoides se llevará a cabo recolectando larvas de </a:t>
            </a:r>
            <a:r>
              <a:rPr lang="es-PE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Spodoptera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frugiperda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plantas de maíz. Las larvas y huevos colectados se colocarán en táperes plásticos individuales y se alimentarán con hojas de higuerilla, cambiadas de manera intradiaria. Se realizarán observaciones diarias para detectar la emergencia de parasitoides del gusano cogollero en diferentes etapas (larva y pupa) para su posterior identificación taxonómicamente. 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BC0CDEF-7177-DB37-2835-4021DCE47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286" y="587849"/>
            <a:ext cx="2586313" cy="2586313"/>
          </a:xfrm>
          <a:prstGeom prst="rect">
            <a:avLst/>
          </a:prstGeom>
        </p:spPr>
      </p:pic>
      <p:sp>
        <p:nvSpPr>
          <p:cNvPr id="16" name="AutoShape 4" descr="Monitoreo de campo de 6 años de Spodoptera frugiperda en maíz Bt  transgénico...">
            <a:extLst>
              <a:ext uri="{FF2B5EF4-FFF2-40B4-BE49-F238E27FC236}">
                <a16:creationId xmlns:a16="http://schemas.microsoft.com/office/drawing/2014/main" id="{479ED603-3302-3DDB-662C-DB3E9377E6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95794FC-E7AF-5C8F-5BFA-71357F3C71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106" t="9836" r="16516" b="11623"/>
          <a:stretch>
            <a:fillRect/>
          </a:stretch>
        </p:blipFill>
        <p:spPr>
          <a:xfrm>
            <a:off x="7130211" y="3305125"/>
            <a:ext cx="3458780" cy="226793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DE09E8E-0FC4-410E-CF49-F24F0A1FAA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220"/>
          <a:stretch>
            <a:fillRect/>
          </a:stretch>
        </p:blipFill>
        <p:spPr>
          <a:xfrm>
            <a:off x="8976763" y="587849"/>
            <a:ext cx="2881221" cy="258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2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11"/>
    </mc:Choice>
    <mc:Fallback xmlns="">
      <p:transition spd="slow" advTm="3741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A9DB-5FF5-0E6C-A4CF-EC34F07C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83FF19A-6D0F-93D3-E57D-65BABA8444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E8F33BD3-EA97-D8E7-8277-A846A999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486" y="6320457"/>
            <a:ext cx="2743200" cy="365125"/>
          </a:xfrm>
        </p:spPr>
        <p:txBody>
          <a:bodyPr/>
          <a:lstStyle/>
          <a:p>
            <a:fld id="{6D6938E2-E32A-4AE3-A240-0183F91F0C71}" type="datetime1">
              <a:rPr lang="es-PE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fld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CC4296C-BF30-A8E8-EFDE-F6813081E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886" y="6320457"/>
            <a:ext cx="4114800" cy="365125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DE TESIS</a:t>
            </a:r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38CBEA7F-3770-F8BB-077B-8731895B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7391" y="6292249"/>
            <a:ext cx="2743200" cy="365125"/>
          </a:xfrm>
        </p:spPr>
        <p:txBody>
          <a:bodyPr/>
          <a:lstStyle/>
          <a:p>
            <a:fld id="{87D75D39-ABF2-421A-A49D-D1890B74CF6F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6ADAC96-AB41-C066-BB01-6DCAF17C48F2}"/>
              </a:ext>
            </a:extLst>
          </p:cNvPr>
          <p:cNvSpPr txBox="1"/>
          <p:nvPr/>
        </p:nvSpPr>
        <p:spPr>
          <a:xfrm>
            <a:off x="1205232" y="206623"/>
            <a:ext cx="4205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METODOLOGÍA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3F769C4-4AA8-7187-FA9F-4ACC41A1759A}"/>
              </a:ext>
            </a:extLst>
          </p:cNvPr>
          <p:cNvCxnSpPr/>
          <p:nvPr/>
        </p:nvCxnSpPr>
        <p:spPr>
          <a:xfrm>
            <a:off x="334016" y="797086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8EB45665-2DF7-F12B-212D-C684B64D8949}"/>
              </a:ext>
            </a:extLst>
          </p:cNvPr>
          <p:cNvSpPr txBox="1"/>
          <p:nvPr/>
        </p:nvSpPr>
        <p:spPr>
          <a:xfrm>
            <a:off x="4232" y="1112271"/>
            <a:ext cx="3720802" cy="368755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lvl="2" algn="just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morfológica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56BAFFD-57B3-CA5F-BE4B-A81CA99B9795}"/>
              </a:ext>
            </a:extLst>
          </p:cNvPr>
          <p:cNvSpPr txBox="1"/>
          <p:nvPr/>
        </p:nvSpPr>
        <p:spPr>
          <a:xfrm>
            <a:off x="620936" y="1810627"/>
            <a:ext cx="5356412" cy="3332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la identificación morfológica se hará uso de equipo especializado como microscopios estereoscópicos. Se observará características representativas de la familia, género o especie, por ejemplo, el color, las alas delanteras, la longitud de la franja de setas, el número de tricomas, los pelos y la forma de las antenas, así como la longitud del ovopositor. Para identificar las especies, se seguirán las claves taxonómicas de </a:t>
            </a:r>
            <a:r>
              <a:rPr lang="es-PE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(Gupta et al., 2019)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Braconidae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(Broad, 2015) para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Ichneumonidae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 (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Tschorsnig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Herting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2001)para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Tachinidae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4300A11-652C-1FD1-BB34-37C9F79C4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78" y="499010"/>
            <a:ext cx="4205380" cy="527583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F57E521-3CD6-2D2F-3982-125925A4FB94}"/>
              </a:ext>
            </a:extLst>
          </p:cNvPr>
          <p:cNvSpPr txBox="1"/>
          <p:nvPr/>
        </p:nvSpPr>
        <p:spPr>
          <a:xfrm>
            <a:off x="6028568" y="5674493"/>
            <a:ext cx="48768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PE" b="0" i="1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Chelonus</a:t>
            </a:r>
            <a:r>
              <a:rPr lang="es-PE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b="0" i="1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formosanus</a:t>
            </a:r>
            <a:r>
              <a:rPr lang="es-PE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PE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Hymenoptera</a:t>
            </a:r>
            <a:r>
              <a:rPr lang="es-PE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Braconidae</a:t>
            </a:r>
            <a:r>
              <a:rPr lang="es-PE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693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46"/>
    </mc:Choice>
    <mc:Fallback xmlns="">
      <p:transition spd="slow" advTm="4234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3A5E6-7E2C-B1EE-8FB2-C1A81FE03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93A8C24-B4E8-A752-DB68-D4A56FC829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9D340D92-F728-49EA-56FE-433583C3EA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486" y="6320457"/>
            <a:ext cx="2743200" cy="365125"/>
          </a:xfrm>
        </p:spPr>
        <p:txBody>
          <a:bodyPr/>
          <a:lstStyle/>
          <a:p>
            <a:fld id="{6D6938E2-E32A-4AE3-A240-0183F91F0C71}" type="datetime1">
              <a:rPr lang="es-PE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fld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967EF46A-9C4D-9C59-36A2-0E691CA12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886" y="6320457"/>
            <a:ext cx="4114800" cy="365125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DE TESIS</a:t>
            </a:r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8C710D3D-B1A5-156C-608A-D299EC55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7391" y="6292249"/>
            <a:ext cx="2743200" cy="365125"/>
          </a:xfrm>
        </p:spPr>
        <p:txBody>
          <a:bodyPr/>
          <a:lstStyle/>
          <a:p>
            <a:fld id="{87D75D39-ABF2-421A-A49D-D1890B74CF6F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DBA69E9-7B1D-FD1C-B484-18638AA2C078}"/>
              </a:ext>
            </a:extLst>
          </p:cNvPr>
          <p:cNvSpPr txBox="1"/>
          <p:nvPr/>
        </p:nvSpPr>
        <p:spPr>
          <a:xfrm>
            <a:off x="1205232" y="206623"/>
            <a:ext cx="4205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METODOLOGÍA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E891F7B0-85E1-AEBC-A5E9-0B5F9E249D86}"/>
              </a:ext>
            </a:extLst>
          </p:cNvPr>
          <p:cNvCxnSpPr/>
          <p:nvPr/>
        </p:nvCxnSpPr>
        <p:spPr>
          <a:xfrm>
            <a:off x="334016" y="797086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7836615B-72F8-A7F7-535E-E5D37F91D4CE}"/>
              </a:ext>
            </a:extLst>
          </p:cNvPr>
          <p:cNvSpPr txBox="1"/>
          <p:nvPr/>
        </p:nvSpPr>
        <p:spPr>
          <a:xfrm>
            <a:off x="0" y="1232193"/>
            <a:ext cx="2306823" cy="36875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1" algn="just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Análisis de datos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5D43227-2FAF-15FD-8836-C726FF0343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557"/>
          <a:stretch>
            <a:fillRect/>
          </a:stretch>
        </p:blipFill>
        <p:spPr>
          <a:xfrm>
            <a:off x="6308036" y="969186"/>
            <a:ext cx="2091128" cy="428625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8DB65CD-54DF-A488-108F-E6EC51AA73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r="27705"/>
          <a:stretch>
            <a:fillRect/>
          </a:stretch>
        </p:blipFill>
        <p:spPr>
          <a:xfrm>
            <a:off x="8399164" y="969186"/>
            <a:ext cx="1698885" cy="428625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9D32354-6F73-4760-C1C9-FAEF46EA15E4}"/>
              </a:ext>
            </a:extLst>
          </p:cNvPr>
          <p:cNvSpPr txBox="1"/>
          <p:nvPr/>
        </p:nvSpPr>
        <p:spPr>
          <a:xfrm>
            <a:off x="334016" y="1681150"/>
            <a:ext cx="57619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buNone/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datos obtenidos se analizarán utilizando el software estadístico R. Se realizará una descripción general del complejo de parasitoides, evaluando la riqueza taxonómica (familias, géneros y especies) así como su distribución por piso altitudinal. A través de curvas de rango-abundancia (curvas de Whittaker), se analizará la distribución de la riqueza y dominancia de familias, géneros y especies en cada piso altitudinal. Además, se calculará el índice de dominancia de Simpson para </a:t>
            </a:r>
            <a:r>
              <a:rPr lang="es-PE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identificar el grado de dominancia de ciertos taxones en cada piso altitudinal.</a:t>
            </a:r>
            <a:endParaRPr lang="es-P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65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252"/>
    </mc:Choice>
    <mc:Fallback xmlns="">
      <p:transition spd="slow" advTm="4425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A2C1-711D-95FC-FCEE-C885CA2A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05E6E22-024F-F785-9348-E163EB6FF9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C29A90CD-6446-E85E-38A6-02343B4FB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486" y="6320457"/>
            <a:ext cx="2743200" cy="365125"/>
          </a:xfrm>
        </p:spPr>
        <p:txBody>
          <a:bodyPr/>
          <a:lstStyle/>
          <a:p>
            <a:fld id="{6D6938E2-E32A-4AE3-A240-0183F91F0C71}" type="datetime1">
              <a:rPr lang="es-PE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15/07/2025</a:t>
            </a:fld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BC4DCF50-246D-AF22-5622-7572F4AB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886" y="6320457"/>
            <a:ext cx="4114800" cy="365125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PROYECTO DE TESIS</a:t>
            </a:r>
            <a:endParaRPr lang="es-P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3E6023A2-A457-D397-03CA-FC2B1576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7391" y="6292249"/>
            <a:ext cx="2743200" cy="365125"/>
          </a:xfrm>
        </p:spPr>
        <p:txBody>
          <a:bodyPr/>
          <a:lstStyle/>
          <a:p>
            <a:fld id="{87D75D39-ABF2-421A-A49D-D1890B74CF6F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12554A9-EBA8-13BA-9110-4DAD1A252BE4}"/>
              </a:ext>
            </a:extLst>
          </p:cNvPr>
          <p:cNvSpPr txBox="1"/>
          <p:nvPr/>
        </p:nvSpPr>
        <p:spPr>
          <a:xfrm>
            <a:off x="1205232" y="206623"/>
            <a:ext cx="4205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VI. REFERENCIAS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6830D87-497B-4A3E-EA1F-9BFCC85FCB64}"/>
              </a:ext>
            </a:extLst>
          </p:cNvPr>
          <p:cNvCxnSpPr/>
          <p:nvPr/>
        </p:nvCxnSpPr>
        <p:spPr>
          <a:xfrm>
            <a:off x="334016" y="797086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03D675B-99BC-7068-5002-B324503B9E8D}"/>
              </a:ext>
            </a:extLst>
          </p:cNvPr>
          <p:cNvSpPr txBox="1"/>
          <p:nvPr/>
        </p:nvSpPr>
        <p:spPr>
          <a:xfrm>
            <a:off x="806366" y="852709"/>
            <a:ext cx="10579267" cy="5631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215" indent="-450215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Blanco, J. M. C., &amp; Riverón, A. Z. (2014). Biodiversidad de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Braconidae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Hymenoptera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Ichneumonoidea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en México. 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Revista Mexicana de Biodiversidad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85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372-378. https://doi.org/10.7550/rmb.32000</a:t>
            </a:r>
          </a:p>
          <a:p>
            <a:pPr marL="450215" indent="-450215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Broad, G. (2015).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Wings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absent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reduced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PE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 indent="-450215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Cabral, C., Gómez, A.,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Cardenas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R., &amp;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Armoa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K. (2016). 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Identificación de parasitoides en el cultivo de maíz (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Zea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mays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en Canindeyú e Itapúa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https://www.cabi.org/wp-content/uploads/Cabral-2016-Parasitoids-in-corn.pdf</a:t>
            </a:r>
          </a:p>
          <a:p>
            <a:pPr marL="450215" indent="-450215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Cancino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E. R.,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Kasparyan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D. R., Moreno, A. G.,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Khalaim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A. I., &amp; Blanco, J. M. C. (2014). Biodiversidad de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Ichneumonidae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Hymenoptera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en México. 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Revista Mexicana de Biodiversidad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85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385-391. https://doi.org/10.7550/rmb.32448</a:t>
            </a:r>
          </a:p>
          <a:p>
            <a:pPr marL="450215" indent="-450215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Chirinos, D. T., Sánchez-Mora, F., Zambrano, F., Castro-Olaya, J.,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Vasconez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G., Cedeño, G., Pin, K., Zambrano, J., Suarez-Navarrete, V., Proaño, V., Mera-Macias, J., &amp;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Vasquez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C. (2024).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Entomofauna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Associated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Corn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Cultivation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Damage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Caused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Pests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According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Planting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Season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Ecuadorian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Coast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Agronomy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(4), 748. https://doi.org/10.3390/agronomy14040748</a:t>
            </a:r>
          </a:p>
          <a:p>
            <a:pPr marL="450215" indent="-450215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Collantes González, R., &amp; Rodríguez Berrio, A. (2017). Diversidad de avispas parasitoides (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Hymenoptera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en agroecosistemas de palto (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Persea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americana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Mill.) y mandarina (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Citrus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spp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 en Cañete, Lima, Perú. 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APORTE SANTIAGUINO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(2), 207. https://doi.org/10.32911/as.2015.v8.n2.226</a:t>
            </a:r>
          </a:p>
          <a:p>
            <a:pPr marL="450215" indent="-450215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Cusumano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A., &amp;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Fatouros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N. E. (2023). Editorial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overview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Parasites/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parasitoids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biological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control (2023) —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parasitoid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ecology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evolution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biological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control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programs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Opinion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Insect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Science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58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101050. https://doi.org/10.1016/j.cois.2023.101050</a:t>
            </a:r>
          </a:p>
          <a:p>
            <a:pPr marL="450215" indent="-450215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Gupta, A.,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Lalitha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Varshney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Shylesha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A., &amp; Van, C. (2019).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Chelonus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formosanus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Sonan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Hymenoptera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Braconidae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egg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-larval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parasitoid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invasive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Spodoptera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frugiperda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(J. E. Smith) (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Lepidoptera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Noctuidae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amenable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laboratory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mass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production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India.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Entomology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Zoology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Studies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0215" indent="-450215" algn="just">
              <a:lnSpc>
                <a:spcPct val="115000"/>
              </a:lnSpc>
              <a:spcAft>
                <a:spcPts val="800"/>
              </a:spcAft>
            </a:pP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Lestari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Fitriana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Suharjo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Swibawa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I. G.,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Utomo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S. D., &amp; </a:t>
            </a:r>
            <a:r>
              <a:rPr lang="es-PE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Andrianto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E. (2024). Nuevos parasitoides de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Spodoptera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frugiperda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 la provincia de Lampung, Indonesia.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Asia-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Pacific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Biodiversity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PE" sz="1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</a:t>
            </a:r>
            <a:r>
              <a:rPr lang="es-PE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(4), 631-643. https://doi.org/10.1016/j.japb.2024.02.005</a:t>
            </a:r>
          </a:p>
          <a:p>
            <a:pPr marL="450215" indent="-450215" algn="just">
              <a:lnSpc>
                <a:spcPct val="115000"/>
              </a:lnSpc>
              <a:spcAft>
                <a:spcPts val="800"/>
              </a:spcAft>
            </a:pP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Virla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G., &amp; Olmi, M. (2007).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Dryinidae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Hymenoptera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Chrysidoidea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parasitoids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corn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leafhopper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Dalbulus</a:t>
            </a:r>
            <a:r>
              <a:rPr lang="es-PE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maidis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Delong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Wolcott) (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Hemiptera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Cicadellidae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in Argentina,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male </a:t>
            </a:r>
            <a:r>
              <a:rPr lang="es-PE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Gonatopus</a:t>
            </a:r>
            <a:r>
              <a:rPr lang="es-PE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moyaraygozai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Olmi. </a:t>
            </a:r>
            <a:r>
              <a:rPr lang="es-PE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Interciencia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s-P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(12), 847-849.</a:t>
            </a:r>
          </a:p>
          <a:p>
            <a:pPr marL="450215" indent="-450215" algn="just">
              <a:lnSpc>
                <a:spcPct val="115000"/>
              </a:lnSpc>
              <a:spcAft>
                <a:spcPts val="800"/>
              </a:spcAft>
            </a:pPr>
            <a:endParaRPr lang="es-PE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34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39"/>
    </mc:Choice>
    <mc:Fallback xmlns="">
      <p:transition spd="slow" advTm="373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28/04/2025</a:t>
            </a:r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11</a:t>
            </a:fld>
            <a:endParaRPr/>
          </a:p>
        </p:txBody>
      </p:sp>
      <p:pic>
        <p:nvPicPr>
          <p:cNvPr id="201" name="Google Shape;201;p14"/>
          <p:cNvPicPr preferRelativeResize="0"/>
          <p:nvPr/>
        </p:nvPicPr>
        <p:blipFill rotWithShape="1">
          <a:blip r:embed="rId5">
            <a:alphaModFix/>
          </a:blip>
          <a:srcRect l="39228" r="17983"/>
          <a:stretch/>
        </p:blipFill>
        <p:spPr>
          <a:xfrm>
            <a:off x="-1" y="-1"/>
            <a:ext cx="12192001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4"/>
          <p:cNvGrpSpPr/>
          <p:nvPr/>
        </p:nvGrpSpPr>
        <p:grpSpPr>
          <a:xfrm>
            <a:off x="1843767" y="679207"/>
            <a:ext cx="3250005" cy="956805"/>
            <a:chOff x="319767" y="171207"/>
            <a:chExt cx="3250005" cy="956805"/>
          </a:xfrm>
        </p:grpSpPr>
        <p:pic>
          <p:nvPicPr>
            <p:cNvPr id="203" name="Google Shape;203;p14"/>
            <p:cNvPicPr preferRelativeResize="0"/>
            <p:nvPr/>
          </p:nvPicPr>
          <p:blipFill rotWithShape="1">
            <a:blip r:embed="rId6">
              <a:alphaModFix/>
            </a:blip>
            <a:srcRect l="30800"/>
            <a:stretch/>
          </p:blipFill>
          <p:spPr>
            <a:xfrm>
              <a:off x="1320800" y="171207"/>
              <a:ext cx="2248972" cy="956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14" descr="Logotipo - UNTRM"/>
            <p:cNvPicPr preferRelativeResize="0"/>
            <p:nvPr/>
          </p:nvPicPr>
          <p:blipFill rotWithShape="1">
            <a:blip r:embed="rId7">
              <a:alphaModFix/>
            </a:blip>
            <a:srcRect r="69199"/>
            <a:stretch/>
          </p:blipFill>
          <p:spPr>
            <a:xfrm>
              <a:off x="319767" y="171207"/>
              <a:ext cx="1001033" cy="9568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5" name="Google Shape;205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09567" y="528312"/>
            <a:ext cx="1001033" cy="110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70392" y="780230"/>
            <a:ext cx="2082682" cy="76232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4"/>
          <p:cNvSpPr txBox="1"/>
          <p:nvPr/>
        </p:nvSpPr>
        <p:spPr>
          <a:xfrm>
            <a:off x="3330895" y="2947342"/>
            <a:ext cx="499527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6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¡GRACIAS!</a:t>
            </a:r>
            <a:endParaRPr/>
          </a:p>
        </p:txBody>
      </p:sp>
      <p:pic>
        <p:nvPicPr>
          <p:cNvPr id="3" name="Vídeo 2">
            <a:hlinkClick r:id="" action="ppaction://media"/>
            <a:extLst>
              <a:ext uri="{FF2B5EF4-FFF2-40B4-BE49-F238E27FC236}">
                <a16:creationId xmlns:a16="http://schemas.microsoft.com/office/drawing/2014/main" id="{C6763D0C-9EB6-E8AC-096D-E08FCDE020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906000" y="5143500"/>
            <a:ext cx="2285999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1"/>
    </mc:Choice>
    <mc:Fallback xmlns="">
      <p:transition spd="slow" advTm="29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1602</Words>
  <Application>Microsoft Office PowerPoint</Application>
  <PresentationFormat>Panorámica</PresentationFormat>
  <Paragraphs>105</Paragraphs>
  <Slides>11</Slides>
  <Notes>2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JHODANY PAREJAS GONZALES</dc:creator>
  <cp:lastModifiedBy>JHODANY PAREJAS GONZALES</cp:lastModifiedBy>
  <cp:revision>11</cp:revision>
  <dcterms:created xsi:type="dcterms:W3CDTF">2025-04-29T04:37:34Z</dcterms:created>
  <dcterms:modified xsi:type="dcterms:W3CDTF">2025-07-15T17:16:27Z</dcterms:modified>
</cp:coreProperties>
</file>